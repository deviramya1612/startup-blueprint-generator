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4836" y="2775076"/>
            <a:ext cx="2895447" cy="75806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32664" y="2775076"/>
            <a:ext cx="2077558" cy="7759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605814" y="2298784"/>
            <a:ext cx="1344929" cy="1487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7904" y="229565"/>
            <a:ext cx="6714286" cy="759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2004" y="1199463"/>
            <a:ext cx="10868025" cy="1823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deviramya1612/Startup-Blueprint-Generator" TargetMode="Externa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58950" y="1766976"/>
            <a:ext cx="9712325" cy="2512060"/>
          </a:xfrm>
          <a:prstGeom prst="rect"/>
        </p:spPr>
        <p:txBody>
          <a:bodyPr wrap="square" lIns="0" tIns="128270" rIns="0" bIns="0" rtlCol="0" vert="horz">
            <a:spAutoFit/>
          </a:bodyPr>
          <a:lstStyle/>
          <a:p>
            <a:pPr marL="1526540" marR="5080" indent="-1514475">
              <a:lnSpc>
                <a:spcPts val="7100"/>
              </a:lnSpc>
              <a:spcBef>
                <a:spcPts val="1010"/>
              </a:spcBef>
            </a:pPr>
            <a:r>
              <a:rPr dirty="0" sz="6600">
                <a:latin typeface="Calibri"/>
                <a:cs typeface="Calibri"/>
              </a:rPr>
              <a:t>IBM</a:t>
            </a:r>
            <a:r>
              <a:rPr dirty="0" sz="6600" spc="-190">
                <a:latin typeface="Calibri"/>
                <a:cs typeface="Calibri"/>
              </a:rPr>
              <a:t> </a:t>
            </a:r>
            <a:r>
              <a:rPr dirty="0" sz="6600">
                <a:latin typeface="Calibri"/>
                <a:cs typeface="Calibri"/>
              </a:rPr>
              <a:t>University</a:t>
            </a:r>
            <a:r>
              <a:rPr dirty="0" sz="6600" spc="-204">
                <a:latin typeface="Calibri"/>
                <a:cs typeface="Calibri"/>
              </a:rPr>
              <a:t> </a:t>
            </a:r>
            <a:r>
              <a:rPr dirty="0" sz="6600" spc="-10">
                <a:latin typeface="Calibri"/>
                <a:cs typeface="Calibri"/>
              </a:rPr>
              <a:t>Engagement </a:t>
            </a:r>
            <a:r>
              <a:rPr dirty="0" sz="6600">
                <a:latin typeface="Calibri"/>
                <a:cs typeface="Calibri"/>
              </a:rPr>
              <a:t>Project</a:t>
            </a:r>
            <a:r>
              <a:rPr dirty="0" sz="6600" spc="-229">
                <a:latin typeface="Calibri"/>
                <a:cs typeface="Calibri"/>
              </a:rPr>
              <a:t> </a:t>
            </a:r>
            <a:r>
              <a:rPr dirty="0" sz="6600" spc="-10">
                <a:latin typeface="Calibri"/>
                <a:cs typeface="Calibri"/>
              </a:rPr>
              <a:t>Submission</a:t>
            </a:r>
            <a:endParaRPr sz="6600">
              <a:latin typeface="Calibri"/>
              <a:cs typeface="Calibri"/>
            </a:endParaRPr>
          </a:p>
          <a:p>
            <a:pPr marL="835660">
              <a:lnSpc>
                <a:spcPct val="100000"/>
              </a:lnSpc>
              <a:spcBef>
                <a:spcPts val="1580"/>
              </a:spcBef>
            </a:pPr>
            <a:r>
              <a:rPr dirty="0" i="1">
                <a:solidFill>
                  <a:srgbClr val="878787"/>
                </a:solidFill>
                <a:latin typeface="Calibri"/>
                <a:cs typeface="Calibri"/>
              </a:rPr>
              <a:t>“Exploring</a:t>
            </a:r>
            <a:r>
              <a:rPr dirty="0" spc="-55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i="1">
                <a:solidFill>
                  <a:srgbClr val="878787"/>
                </a:solidFill>
                <a:latin typeface="Calibri"/>
                <a:cs typeface="Calibri"/>
              </a:rPr>
              <a:t>the</a:t>
            </a:r>
            <a:r>
              <a:rPr dirty="0" spc="-45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i="1">
                <a:solidFill>
                  <a:srgbClr val="878787"/>
                </a:solidFill>
                <a:latin typeface="Calibri"/>
                <a:cs typeface="Calibri"/>
              </a:rPr>
              <a:t>Power</a:t>
            </a:r>
            <a:r>
              <a:rPr dirty="0" spc="-25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i="1">
                <a:solidFill>
                  <a:srgbClr val="878787"/>
                </a:solidFill>
                <a:latin typeface="Calibri"/>
                <a:cs typeface="Calibri"/>
              </a:rPr>
              <a:t>of</a:t>
            </a:r>
            <a:r>
              <a:rPr dirty="0" spc="-80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i="1">
                <a:solidFill>
                  <a:srgbClr val="878787"/>
                </a:solidFill>
                <a:latin typeface="Calibri"/>
                <a:cs typeface="Calibri"/>
              </a:rPr>
              <a:t>Agentic</a:t>
            </a:r>
            <a:r>
              <a:rPr dirty="0" spc="-30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i="1">
                <a:solidFill>
                  <a:srgbClr val="878787"/>
                </a:solidFill>
                <a:latin typeface="Calibri"/>
                <a:cs typeface="Calibri"/>
              </a:rPr>
              <a:t>AI</a:t>
            </a:r>
            <a:r>
              <a:rPr dirty="0" spc="-75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i="1">
                <a:solidFill>
                  <a:srgbClr val="878787"/>
                </a:solidFill>
                <a:latin typeface="Calibri"/>
                <a:cs typeface="Calibri"/>
              </a:rPr>
              <a:t>with</a:t>
            </a:r>
            <a:r>
              <a:rPr dirty="0" spc="-55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i="1">
                <a:solidFill>
                  <a:srgbClr val="878787"/>
                </a:solidFill>
                <a:latin typeface="Calibri"/>
                <a:cs typeface="Calibri"/>
              </a:rPr>
              <a:t>IBM</a:t>
            </a:r>
            <a:r>
              <a:rPr dirty="0" spc="-30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i="1">
                <a:solidFill>
                  <a:srgbClr val="878787"/>
                </a:solidFill>
                <a:latin typeface="Calibri"/>
                <a:cs typeface="Calibri"/>
              </a:rPr>
              <a:t>Granite</a:t>
            </a:r>
            <a:r>
              <a:rPr dirty="0" spc="-40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i="1">
                <a:solidFill>
                  <a:srgbClr val="878787"/>
                </a:solidFill>
                <a:latin typeface="Calibri"/>
                <a:cs typeface="Calibri"/>
              </a:rPr>
              <a:t>and</a:t>
            </a:r>
            <a:r>
              <a:rPr dirty="0" spc="-55" i="1">
                <a:solidFill>
                  <a:srgbClr val="878787"/>
                </a:solidFill>
                <a:latin typeface="Calibri"/>
                <a:cs typeface="Calibri"/>
              </a:rPr>
              <a:t> </a:t>
            </a:r>
            <a:r>
              <a:rPr dirty="0" spc="-10" i="1">
                <a:solidFill>
                  <a:srgbClr val="878787"/>
                </a:solidFill>
                <a:latin typeface="Calibri"/>
                <a:cs typeface="Calibri"/>
              </a:rPr>
              <a:t>LangFlow”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00855" y="2539314"/>
            <a:ext cx="119380" cy="412115"/>
          </a:xfrm>
          <a:custGeom>
            <a:avLst/>
            <a:gdLst/>
            <a:ahLst/>
            <a:cxnLst/>
            <a:rect l="l" t="t" r="r" b="b"/>
            <a:pathLst>
              <a:path w="119379" h="412114">
                <a:moveTo>
                  <a:pt x="118872" y="0"/>
                </a:moveTo>
                <a:lnTo>
                  <a:pt x="0" y="0"/>
                </a:lnTo>
                <a:lnTo>
                  <a:pt x="0" y="411784"/>
                </a:lnTo>
                <a:lnTo>
                  <a:pt x="118872" y="411784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728327" y="2539314"/>
            <a:ext cx="119380" cy="412115"/>
          </a:xfrm>
          <a:custGeom>
            <a:avLst/>
            <a:gdLst/>
            <a:ahLst/>
            <a:cxnLst/>
            <a:rect l="l" t="t" r="r" b="b"/>
            <a:pathLst>
              <a:path w="119379" h="412114">
                <a:moveTo>
                  <a:pt x="118872" y="0"/>
                </a:moveTo>
                <a:lnTo>
                  <a:pt x="0" y="0"/>
                </a:lnTo>
                <a:lnTo>
                  <a:pt x="0" y="411784"/>
                </a:lnTo>
                <a:lnTo>
                  <a:pt x="118872" y="411784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775586" y="2498800"/>
            <a:ext cx="8084820" cy="4540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10"/>
              <a:t>ProjectTile–</a:t>
            </a:r>
            <a:r>
              <a:rPr dirty="0" sz="2800"/>
              <a:t>[Startup</a:t>
            </a:r>
            <a:r>
              <a:rPr dirty="0" sz="2800" spc="-40"/>
              <a:t> </a:t>
            </a:r>
            <a:r>
              <a:rPr dirty="0" sz="2800"/>
              <a:t>Blueprint</a:t>
            </a:r>
            <a:r>
              <a:rPr dirty="0" sz="2800" spc="-80"/>
              <a:t> </a:t>
            </a:r>
            <a:r>
              <a:rPr dirty="0" sz="2800"/>
              <a:t>Generator</a:t>
            </a:r>
            <a:r>
              <a:rPr dirty="0" sz="2800" spc="-30"/>
              <a:t> </a:t>
            </a:r>
            <a:r>
              <a:rPr dirty="0" sz="2800" spc="-10"/>
              <a:t>Agent]</a:t>
            </a:r>
            <a:endParaRPr sz="2800"/>
          </a:p>
        </p:txBody>
      </p:sp>
      <p:sp>
        <p:nvSpPr>
          <p:cNvPr id="5" name="object 5"/>
          <p:cNvSpPr/>
          <p:nvPr/>
        </p:nvSpPr>
        <p:spPr>
          <a:xfrm>
            <a:off x="4628641" y="3564077"/>
            <a:ext cx="6120130" cy="412115"/>
          </a:xfrm>
          <a:custGeom>
            <a:avLst/>
            <a:gdLst/>
            <a:ahLst/>
            <a:cxnLst/>
            <a:rect l="l" t="t" r="r" b="b"/>
            <a:pathLst>
              <a:path w="6120130" h="412114">
                <a:moveTo>
                  <a:pt x="6119748" y="0"/>
                </a:moveTo>
                <a:lnTo>
                  <a:pt x="0" y="0"/>
                </a:lnTo>
                <a:lnTo>
                  <a:pt x="0" y="411784"/>
                </a:lnTo>
                <a:lnTo>
                  <a:pt x="6119748" y="411784"/>
                </a:lnTo>
                <a:lnTo>
                  <a:pt x="611974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578991" y="3523945"/>
            <a:ext cx="9190990" cy="454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20" b="1">
                <a:latin typeface="Arial"/>
                <a:cs typeface="Arial"/>
              </a:rPr>
              <a:t>DomainofProject–</a:t>
            </a:r>
            <a:r>
              <a:rPr dirty="0" sz="2800" b="1">
                <a:latin typeface="Arial"/>
                <a:cs typeface="Arial"/>
              </a:rPr>
              <a:t>[Generative</a:t>
            </a:r>
            <a:r>
              <a:rPr dirty="0" sz="2800" spc="4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AI &amp;</a:t>
            </a:r>
            <a:r>
              <a:rPr dirty="0" sz="2800" spc="-20" b="1">
                <a:latin typeface="Arial"/>
                <a:cs typeface="Arial"/>
              </a:rPr>
              <a:t> </a:t>
            </a:r>
            <a:r>
              <a:rPr dirty="0" sz="2800" b="1">
                <a:latin typeface="Arial"/>
                <a:cs typeface="Arial"/>
              </a:rPr>
              <a:t>Startup</a:t>
            </a:r>
            <a:r>
              <a:rPr dirty="0" sz="2800" spc="-35" b="1">
                <a:latin typeface="Arial"/>
                <a:cs typeface="Arial"/>
              </a:rPr>
              <a:t> </a:t>
            </a:r>
            <a:r>
              <a:rPr dirty="0" sz="2800" spc="-10" b="1">
                <a:latin typeface="Arial"/>
                <a:cs typeface="Arial"/>
              </a:rPr>
              <a:t>Innovation]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0544" y="705434"/>
            <a:ext cx="2908300" cy="39370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Problem</a:t>
            </a:r>
            <a:r>
              <a:rPr dirty="0" spc="-30"/>
              <a:t> </a:t>
            </a:r>
            <a:r>
              <a:rPr dirty="0" spc="-10"/>
              <a:t>Statement-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0544" y="1254632"/>
            <a:ext cx="11473180" cy="49980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Arial"/>
                <a:cs typeface="Arial"/>
              </a:rPr>
              <a:t>Problem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Statement: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79300"/>
              </a:lnSpc>
              <a:spcBef>
                <a:spcPts val="360"/>
              </a:spcBef>
            </a:pPr>
            <a:r>
              <a:rPr dirty="0" sz="1400">
                <a:latin typeface="Arial MT"/>
                <a:cs typeface="Arial MT"/>
              </a:rPr>
              <a:t>Entrepreneurs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innovators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often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struggle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transform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their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ideas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into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structured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actionable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plans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due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limited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access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to </a:t>
            </a:r>
            <a:r>
              <a:rPr dirty="0" sz="1400">
                <a:latin typeface="Arial MT"/>
                <a:cs typeface="Arial MT"/>
              </a:rPr>
              <a:t>market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research,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strategy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guidance,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technical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expertise,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financial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planning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knowledge.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ts val="1650"/>
              </a:lnSpc>
              <a:spcBef>
                <a:spcPts val="1525"/>
              </a:spcBef>
            </a:pP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-10" b="1">
                <a:latin typeface="Arial"/>
                <a:cs typeface="Arial"/>
              </a:rPr>
              <a:t> Objective:</a:t>
            </a:r>
            <a:endParaRPr sz="1400">
              <a:latin typeface="Arial"/>
              <a:cs typeface="Arial"/>
            </a:endParaRPr>
          </a:p>
          <a:p>
            <a:pPr marL="12700" marR="114300">
              <a:lnSpc>
                <a:spcPct val="95800"/>
              </a:lnSpc>
              <a:spcBef>
                <a:spcPts val="40"/>
              </a:spcBef>
            </a:pPr>
            <a:r>
              <a:rPr dirty="0" sz="1400" b="1">
                <a:latin typeface="Arial"/>
                <a:cs typeface="Arial"/>
              </a:rPr>
              <a:t>To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develop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AI-powered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Blueprint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Generator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Agent</a:t>
            </a:r>
            <a:r>
              <a:rPr dirty="0" sz="1400" spc="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that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helps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users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convert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startup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ideas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into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complete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business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blueprints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spc="-25" b="1">
                <a:latin typeface="Arial"/>
                <a:cs typeface="Arial"/>
              </a:rPr>
              <a:t>by </a:t>
            </a:r>
            <a:r>
              <a:rPr dirty="0" sz="1400" b="1">
                <a:latin typeface="Arial"/>
                <a:cs typeface="Arial"/>
              </a:rPr>
              <a:t>providing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AI-</a:t>
            </a:r>
            <a:r>
              <a:rPr dirty="0" sz="1400" b="1">
                <a:latin typeface="Arial"/>
                <a:cs typeface="Arial"/>
              </a:rPr>
              <a:t>driven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recommendations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for</a:t>
            </a:r>
            <a:r>
              <a:rPr dirty="0" sz="1400" spc="-8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problem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identification,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target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audience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analysis,</a:t>
            </a:r>
            <a:r>
              <a:rPr dirty="0" sz="1400" spc="-7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market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opportunities,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business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models, </a:t>
            </a:r>
            <a:r>
              <a:rPr dirty="0" sz="1400" b="1">
                <a:latin typeface="Arial"/>
                <a:cs typeface="Arial"/>
              </a:rPr>
              <a:t>technology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stack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selection,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step-</a:t>
            </a:r>
            <a:r>
              <a:rPr dirty="0" sz="1400" spc="-10" b="1">
                <a:latin typeface="Arial"/>
                <a:cs typeface="Arial"/>
              </a:rPr>
              <a:t>by-</a:t>
            </a:r>
            <a:r>
              <a:rPr dirty="0" sz="1400" b="1">
                <a:latin typeface="Arial"/>
                <a:cs typeface="Arial"/>
              </a:rPr>
              <a:t>step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execution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roadmaps.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agent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aims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to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simplify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startup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planning,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improve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decision-</a:t>
            </a:r>
            <a:r>
              <a:rPr dirty="0" sz="1400" b="1">
                <a:latin typeface="Arial"/>
                <a:cs typeface="Arial"/>
              </a:rPr>
              <a:t>making,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support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aspiring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entrepreneurs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in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building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scalable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solutions.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590"/>
              </a:lnSpc>
            </a:pPr>
            <a:r>
              <a:rPr dirty="0" sz="1400" b="1">
                <a:latin typeface="Arial"/>
                <a:cs typeface="Arial"/>
              </a:rPr>
              <a:t>The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solution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should:</a:t>
            </a:r>
            <a:endParaRPr sz="1400">
              <a:latin typeface="Arial"/>
              <a:cs typeface="Arial"/>
            </a:endParaRPr>
          </a:p>
          <a:p>
            <a:pPr marL="295910" marR="2291080" indent="-256540">
              <a:lnSpc>
                <a:spcPts val="1660"/>
              </a:lnSpc>
              <a:spcBef>
                <a:spcPts val="45"/>
              </a:spcBef>
              <a:buChar char="•"/>
              <a:tabLst>
                <a:tab pos="295910" algn="l"/>
              </a:tabLst>
            </a:pPr>
            <a:r>
              <a:rPr dirty="0" sz="1400" b="1">
                <a:latin typeface="Arial"/>
                <a:cs typeface="Arial"/>
              </a:rPr>
              <a:t>Startup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Idea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Analysis</a:t>
            </a:r>
            <a:r>
              <a:rPr dirty="0" sz="1400" spc="1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Analyze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user-provided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ideas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by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identifying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problem,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target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audience,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market </a:t>
            </a:r>
            <a:r>
              <a:rPr dirty="0" sz="1400">
                <a:latin typeface="Arial MT"/>
                <a:cs typeface="Arial MT"/>
              </a:rPr>
              <a:t>opportunity,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feasibility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concept.</a:t>
            </a:r>
            <a:endParaRPr sz="1400">
              <a:latin typeface="Arial MT"/>
              <a:cs typeface="Arial MT"/>
            </a:endParaRPr>
          </a:p>
          <a:p>
            <a:pPr marL="295910" marR="2080895" indent="-256540">
              <a:lnSpc>
                <a:spcPts val="1660"/>
              </a:lnSpc>
              <a:spcBef>
                <a:spcPts val="30"/>
              </a:spcBef>
              <a:buChar char="•"/>
              <a:tabLst>
                <a:tab pos="295910" algn="l"/>
              </a:tabLst>
            </a:pPr>
            <a:r>
              <a:rPr dirty="0" sz="1400" b="1">
                <a:latin typeface="Arial"/>
                <a:cs typeface="Arial"/>
              </a:rPr>
              <a:t>Startup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Blueprint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Generation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Generate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complete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blueprints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including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value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proposition,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model, </a:t>
            </a:r>
            <a:r>
              <a:rPr dirty="0" sz="1400">
                <a:latin typeface="Arial MT"/>
                <a:cs typeface="Arial MT"/>
              </a:rPr>
              <a:t>revenue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strategy,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customer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segments,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growth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plans.</a:t>
            </a:r>
            <a:endParaRPr sz="1400">
              <a:latin typeface="Arial MT"/>
              <a:cs typeface="Arial MT"/>
            </a:endParaRPr>
          </a:p>
          <a:p>
            <a:pPr marL="295910" marR="139700" indent="-256540">
              <a:lnSpc>
                <a:spcPts val="1620"/>
              </a:lnSpc>
              <a:spcBef>
                <a:spcPts val="135"/>
              </a:spcBef>
              <a:buChar char="•"/>
              <a:tabLst>
                <a:tab pos="295910" algn="l"/>
              </a:tabLst>
            </a:pPr>
            <a:r>
              <a:rPr dirty="0" sz="1400" b="1">
                <a:latin typeface="Arial"/>
                <a:cs typeface="Arial"/>
              </a:rPr>
              <a:t>Market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Research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&amp;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Competitor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Analysis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Retrieve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summarize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market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trends,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customer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needs,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competitor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insights,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opportunities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differentiation.</a:t>
            </a:r>
            <a:endParaRPr sz="1400">
              <a:latin typeface="Arial MT"/>
              <a:cs typeface="Arial MT"/>
            </a:endParaRPr>
          </a:p>
          <a:p>
            <a:pPr marL="295910" marR="69215" indent="-256540">
              <a:lnSpc>
                <a:spcPts val="1620"/>
              </a:lnSpc>
              <a:spcBef>
                <a:spcPts val="40"/>
              </a:spcBef>
              <a:buChar char="•"/>
              <a:tabLst>
                <a:tab pos="295910" algn="l"/>
              </a:tabLst>
            </a:pPr>
            <a:r>
              <a:rPr dirty="0" sz="1400" b="1">
                <a:latin typeface="Arial"/>
                <a:cs typeface="Arial"/>
              </a:rPr>
              <a:t>Technology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Stack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Recommendation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Suggest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suitable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technologies,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tools,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platforms,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frameworks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required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9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developing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scaling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solution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295910" marR="102870" indent="-256540">
              <a:lnSpc>
                <a:spcPts val="1590"/>
              </a:lnSpc>
              <a:spcBef>
                <a:spcPts val="95"/>
              </a:spcBef>
              <a:buChar char="•"/>
              <a:tabLst>
                <a:tab pos="295910" algn="l"/>
              </a:tabLst>
            </a:pPr>
            <a:r>
              <a:rPr dirty="0" sz="1400" b="1">
                <a:latin typeface="Arial"/>
                <a:cs typeface="Arial"/>
              </a:rPr>
              <a:t>Business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Strategy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&amp;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Planning</a:t>
            </a:r>
            <a:r>
              <a:rPr dirty="0" sz="1400" spc="2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9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Provide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recommendations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for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marketing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strategies,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resource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planning,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funding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approaches,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long-</a:t>
            </a:r>
            <a:r>
              <a:rPr dirty="0" sz="1400" spc="-20">
                <a:latin typeface="Arial MT"/>
                <a:cs typeface="Arial MT"/>
              </a:rPr>
              <a:t>term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growth.</a:t>
            </a:r>
            <a:endParaRPr sz="1400">
              <a:latin typeface="Arial MT"/>
              <a:cs typeface="Arial MT"/>
            </a:endParaRPr>
          </a:p>
          <a:p>
            <a:pPr marL="295910" marR="550545" indent="-256540">
              <a:lnSpc>
                <a:spcPts val="1620"/>
              </a:lnSpc>
              <a:spcBef>
                <a:spcPts val="75"/>
              </a:spcBef>
              <a:buChar char="•"/>
              <a:tabLst>
                <a:tab pos="295910" algn="l"/>
              </a:tabLst>
            </a:pPr>
            <a:r>
              <a:rPr dirty="0" sz="1400" b="1">
                <a:latin typeface="Arial"/>
                <a:cs typeface="Arial"/>
              </a:rPr>
              <a:t>Visualization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Dashboard</a:t>
            </a:r>
            <a:r>
              <a:rPr dirty="0" sz="1400" spc="30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Display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blueprint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details,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market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insights,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model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analysis,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execution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timeline,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progress </a:t>
            </a:r>
            <a:r>
              <a:rPr dirty="0" sz="1400">
                <a:latin typeface="Arial MT"/>
                <a:cs typeface="Arial MT"/>
              </a:rPr>
              <a:t>tracking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toward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goals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295910" marR="1031240" indent="-256540">
              <a:lnSpc>
                <a:spcPts val="1620"/>
              </a:lnSpc>
              <a:spcBef>
                <a:spcPts val="35"/>
              </a:spcBef>
              <a:buChar char="•"/>
              <a:tabLst>
                <a:tab pos="295910" algn="l"/>
              </a:tabLst>
            </a:pPr>
            <a:r>
              <a:rPr dirty="0" sz="1400" spc="-20" b="1">
                <a:latin typeface="Arial"/>
                <a:cs typeface="Arial"/>
              </a:rPr>
              <a:t>AI-</a:t>
            </a:r>
            <a:r>
              <a:rPr dirty="0" sz="1400" b="1">
                <a:latin typeface="Arial"/>
                <a:cs typeface="Arial"/>
              </a:rPr>
              <a:t>Powered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Entrepreneur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Assistance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Provide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interactive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guidance,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answer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startup-related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queries,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continuously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support </a:t>
            </a:r>
            <a:r>
              <a:rPr dirty="0" sz="1400">
                <a:latin typeface="Arial MT"/>
                <a:cs typeface="Arial MT"/>
              </a:rPr>
              <a:t>entrepreneurs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throughout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 </a:t>
            </a:r>
            <a:r>
              <a:rPr dirty="0" sz="1400" spc="-10">
                <a:latin typeface="Arial MT"/>
                <a:cs typeface="Arial MT"/>
              </a:rPr>
              <a:t>development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journey.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0544" y="705434"/>
            <a:ext cx="2839720" cy="39370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Proposed</a:t>
            </a:r>
            <a:r>
              <a:rPr dirty="0" spc="-75"/>
              <a:t> </a:t>
            </a:r>
            <a:r>
              <a:rPr dirty="0" spc="-10"/>
              <a:t>Solution-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804" y="1565605"/>
            <a:ext cx="11601450" cy="29165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00">
                <a:latin typeface="Arial MT"/>
                <a:cs typeface="Arial MT"/>
              </a:rPr>
              <a:t>Proposed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Solution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–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AI-</a:t>
            </a:r>
            <a:r>
              <a:rPr dirty="0" sz="2000">
                <a:latin typeface="Arial MT"/>
                <a:cs typeface="Arial MT"/>
              </a:rPr>
              <a:t>Powered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Startup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Blueprint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Generator</a:t>
            </a:r>
            <a:endParaRPr sz="2000">
              <a:latin typeface="Arial MT"/>
              <a:cs typeface="Arial MT"/>
            </a:endParaRPr>
          </a:p>
          <a:p>
            <a:pPr marL="12700" marR="187960">
              <a:lnSpc>
                <a:spcPct val="95400"/>
              </a:lnSpc>
              <a:spcBef>
                <a:spcPts val="1450"/>
              </a:spcBef>
            </a:pP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proposed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solution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 b="1">
                <a:latin typeface="Arial"/>
                <a:cs typeface="Arial"/>
              </a:rPr>
              <a:t>multi-</a:t>
            </a:r>
            <a:r>
              <a:rPr dirty="0" sz="1400" b="1">
                <a:latin typeface="Arial"/>
                <a:cs typeface="Arial"/>
              </a:rPr>
              <a:t>agent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AI-</a:t>
            </a:r>
            <a:r>
              <a:rPr dirty="0" sz="1400" b="1">
                <a:latin typeface="Arial"/>
                <a:cs typeface="Arial"/>
              </a:rPr>
              <a:t>powered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Startup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Blueprint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Generator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built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using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IBM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watsonx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Orchestrate,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GPT-</a:t>
            </a:r>
            <a:r>
              <a:rPr dirty="0" sz="1400" b="1">
                <a:latin typeface="Arial"/>
                <a:cs typeface="Arial"/>
              </a:rPr>
              <a:t>OSS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120B, </a:t>
            </a:r>
            <a:r>
              <a:rPr dirty="0" sz="1400" b="1">
                <a:latin typeface="Arial"/>
                <a:cs typeface="Arial"/>
              </a:rPr>
              <a:t>Langflow,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and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Retrieval-</a:t>
            </a:r>
            <a:r>
              <a:rPr dirty="0" sz="1400" b="1">
                <a:latin typeface="Arial"/>
                <a:cs typeface="Arial"/>
              </a:rPr>
              <a:t>Augmented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Generation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(RAG)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help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entrepreneurs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transform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ideas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into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comprehensive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blueprints.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system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combines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curated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knowledge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base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real-time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web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search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provide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accurate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personalized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recommendations.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95800"/>
              </a:lnSpc>
              <a:spcBef>
                <a:spcPts val="1415"/>
              </a:spcBef>
            </a:pP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solution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consists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six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specialized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agents</a:t>
            </a:r>
            <a:r>
              <a:rPr dirty="0" sz="1400">
                <a:latin typeface="Arial MT"/>
                <a:cs typeface="Arial MT"/>
              </a:rPr>
              <a:t>: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Startup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Analysis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Agent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understands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idea,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1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Business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Model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Canvas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Agent </a:t>
            </a:r>
            <a:r>
              <a:rPr dirty="0" sz="1400">
                <a:latin typeface="Arial MT"/>
                <a:cs typeface="Arial MT"/>
              </a:rPr>
              <a:t>creates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complete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model,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 </a:t>
            </a:r>
            <a:r>
              <a:rPr dirty="0" sz="1400" b="1">
                <a:latin typeface="Arial"/>
                <a:cs typeface="Arial"/>
              </a:rPr>
              <a:t>Market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Research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Agent </a:t>
            </a:r>
            <a:r>
              <a:rPr dirty="0" sz="1400">
                <a:latin typeface="Arial MT"/>
                <a:cs typeface="Arial MT"/>
              </a:rPr>
              <a:t>performs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competitor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SWOT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analysis,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b="1">
                <a:latin typeface="Arial"/>
                <a:cs typeface="Arial"/>
              </a:rPr>
              <a:t>Funding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Advisor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Agent </a:t>
            </a:r>
            <a:r>
              <a:rPr dirty="0" sz="1400">
                <a:latin typeface="Arial MT"/>
                <a:cs typeface="Arial MT"/>
              </a:rPr>
              <a:t>recommends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funding</a:t>
            </a:r>
            <a:r>
              <a:rPr dirty="0" sz="1400" spc="-10">
                <a:latin typeface="Arial MT"/>
                <a:cs typeface="Arial MT"/>
              </a:rPr>
              <a:t> opportunities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government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schemes,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60">
                <a:latin typeface="Arial MT"/>
                <a:cs typeface="Arial MT"/>
              </a:rPr>
              <a:t> </a:t>
            </a:r>
            <a:r>
              <a:rPr dirty="0" sz="1400" spc="-20" b="1">
                <a:latin typeface="Arial"/>
                <a:cs typeface="Arial"/>
              </a:rPr>
              <a:t>Go-</a:t>
            </a:r>
            <a:r>
              <a:rPr dirty="0" sz="1400" b="1">
                <a:latin typeface="Arial"/>
                <a:cs typeface="Arial"/>
              </a:rPr>
              <a:t>to-Market</a:t>
            </a:r>
            <a:r>
              <a:rPr dirty="0" sz="1400" spc="-1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Strategy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Agent </a:t>
            </a:r>
            <a:r>
              <a:rPr dirty="0" sz="1400">
                <a:latin typeface="Arial MT"/>
                <a:cs typeface="Arial MT"/>
              </a:rPr>
              <a:t>develops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marketing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sales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plans,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the </a:t>
            </a:r>
            <a:r>
              <a:rPr dirty="0" sz="1400" b="1">
                <a:latin typeface="Arial"/>
                <a:cs typeface="Arial"/>
              </a:rPr>
              <a:t>Roadmap</a:t>
            </a:r>
            <a:r>
              <a:rPr dirty="0" sz="1400" spc="-1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Agent</a:t>
            </a:r>
            <a:r>
              <a:rPr dirty="0" sz="1400" spc="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generates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 30-</a:t>
            </a:r>
            <a:r>
              <a:rPr dirty="0" sz="1400" spc="-10">
                <a:latin typeface="Arial MT"/>
                <a:cs typeface="Arial MT"/>
              </a:rPr>
              <a:t>60-</a:t>
            </a:r>
            <a:r>
              <a:rPr dirty="0" sz="1400">
                <a:latin typeface="Arial MT"/>
                <a:cs typeface="Arial MT"/>
              </a:rPr>
              <a:t>90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day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implementation</a:t>
            </a:r>
            <a:r>
              <a:rPr dirty="0" sz="140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plan.</a:t>
            </a:r>
            <a:endParaRPr sz="1400">
              <a:latin typeface="Arial MT"/>
              <a:cs typeface="Arial MT"/>
            </a:endParaRPr>
          </a:p>
          <a:p>
            <a:pPr marL="12700" marR="132080">
              <a:lnSpc>
                <a:spcPct val="95400"/>
              </a:lnSpc>
              <a:spcBef>
                <a:spcPts val="1425"/>
              </a:spcBef>
            </a:pPr>
            <a:r>
              <a:rPr dirty="0" sz="1400" b="1">
                <a:latin typeface="Arial"/>
                <a:cs typeface="Arial"/>
              </a:rPr>
              <a:t>Langflow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orchestrates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multi-agent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workflow,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while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20" b="1">
                <a:latin typeface="Arial"/>
                <a:cs typeface="Arial"/>
              </a:rPr>
              <a:t>GPT-</a:t>
            </a:r>
            <a:r>
              <a:rPr dirty="0" sz="1400" b="1">
                <a:latin typeface="Arial"/>
                <a:cs typeface="Arial"/>
              </a:rPr>
              <a:t>OSS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120B</a:t>
            </a:r>
            <a:r>
              <a:rPr dirty="0" sz="1400" spc="-20" b="1">
                <a:latin typeface="Arial"/>
                <a:cs typeface="Arial"/>
              </a:rPr>
              <a:t> </a:t>
            </a:r>
            <a:r>
              <a:rPr dirty="0" sz="1400">
                <a:latin typeface="Arial MT"/>
                <a:cs typeface="Arial MT"/>
              </a:rPr>
              <a:t>powers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reasoning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content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generation.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Overall,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solution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acts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an </a:t>
            </a:r>
            <a:r>
              <a:rPr dirty="0" sz="1400">
                <a:latin typeface="Arial MT"/>
                <a:cs typeface="Arial MT"/>
              </a:rPr>
              <a:t>intelligent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virtual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mentor,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delivering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personalized,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investor-ready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business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plans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that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help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entrepreneurs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validate,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plan,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launch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their </a:t>
            </a:r>
            <a:r>
              <a:rPr dirty="0" sz="1400">
                <a:latin typeface="Arial MT"/>
                <a:cs typeface="Arial MT"/>
              </a:rPr>
              <a:t>startups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efficiently.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1018" rIns="0" bIns="0" rtlCol="0" vert="horz">
            <a:spAutoFit/>
          </a:bodyPr>
          <a:lstStyle/>
          <a:p>
            <a:pPr marL="615950">
              <a:lnSpc>
                <a:spcPct val="100000"/>
              </a:lnSpc>
              <a:spcBef>
                <a:spcPts val="115"/>
              </a:spcBef>
            </a:pPr>
            <a:r>
              <a:rPr dirty="0" spc="-10"/>
              <a:t>Technology</a:t>
            </a:r>
            <a:r>
              <a:rPr dirty="0" spc="-135"/>
              <a:t> </a:t>
            </a:r>
            <a:r>
              <a:rPr dirty="0" spc="-20"/>
              <a:t>Used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3716" y="1217752"/>
            <a:ext cx="11220450" cy="467868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263525" marR="561340" indent="-251460">
              <a:lnSpc>
                <a:spcPts val="2090"/>
              </a:lnSpc>
              <a:spcBef>
                <a:spcPts val="229"/>
              </a:spcBef>
              <a:buChar char="•"/>
              <a:tabLst>
                <a:tab pos="263525" algn="l"/>
              </a:tabLst>
            </a:pPr>
            <a:r>
              <a:rPr dirty="0" sz="1800" b="1">
                <a:latin typeface="Arial"/>
                <a:cs typeface="Arial"/>
              </a:rPr>
              <a:t>Generative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AI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-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Used</a:t>
            </a:r>
            <a:r>
              <a:rPr dirty="0" sz="1800" spc="-17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understand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ideas,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generate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business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strategies,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create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blueprints,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and </a:t>
            </a:r>
            <a:r>
              <a:rPr dirty="0" sz="1800">
                <a:latin typeface="Arial MT"/>
                <a:cs typeface="Arial MT"/>
              </a:rPr>
              <a:t>provide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intelligent</a:t>
            </a:r>
            <a:r>
              <a:rPr dirty="0" sz="1800" spc="-10">
                <a:latin typeface="Arial MT"/>
                <a:cs typeface="Arial MT"/>
              </a:rPr>
              <a:t> recommendations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2014"/>
              </a:lnSpc>
            </a:pPr>
            <a:r>
              <a:rPr dirty="0" sz="1800" spc="-50" b="1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263525" indent="-250825">
              <a:lnSpc>
                <a:spcPts val="2145"/>
              </a:lnSpc>
              <a:buChar char="•"/>
              <a:tabLst>
                <a:tab pos="263525" algn="l"/>
              </a:tabLst>
            </a:pPr>
            <a:r>
              <a:rPr dirty="0" sz="1800" b="1">
                <a:latin typeface="Arial"/>
                <a:cs typeface="Arial"/>
              </a:rPr>
              <a:t>IBM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watsonx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Orchestrate</a:t>
            </a:r>
            <a:r>
              <a:rPr dirty="0" sz="1800" spc="1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-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build 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manage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agent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workflow,</a:t>
            </a:r>
            <a:endParaRPr sz="1800">
              <a:latin typeface="Arial MT"/>
              <a:cs typeface="Arial MT"/>
            </a:endParaRPr>
          </a:p>
          <a:p>
            <a:pPr marL="263525">
              <a:lnSpc>
                <a:spcPct val="100000"/>
              </a:lnSpc>
              <a:spcBef>
                <a:spcPts val="75"/>
              </a:spcBef>
            </a:pPr>
            <a:r>
              <a:rPr dirty="0" sz="1800">
                <a:latin typeface="Arial MT"/>
                <a:cs typeface="Arial MT"/>
              </a:rPr>
              <a:t>coordinate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multiple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agents,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automate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planning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tasks.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800" spc="-50" b="1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263525" marR="1208405" indent="-251460">
              <a:lnSpc>
                <a:spcPct val="100000"/>
              </a:lnSpc>
              <a:spcBef>
                <a:spcPts val="110"/>
              </a:spcBef>
              <a:buChar char="•"/>
              <a:tabLst>
                <a:tab pos="263525" algn="l"/>
              </a:tabLst>
            </a:pPr>
            <a:r>
              <a:rPr dirty="0" sz="1800" b="1">
                <a:latin typeface="Arial"/>
                <a:cs typeface="Arial"/>
              </a:rPr>
              <a:t>Large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Language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Models(LLMs)</a:t>
            </a:r>
            <a:r>
              <a:rPr dirty="0" sz="1800" spc="2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2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natural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language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understanding,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reasoning,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content </a:t>
            </a:r>
            <a:r>
              <a:rPr dirty="0" sz="1800">
                <a:latin typeface="Arial MT"/>
                <a:cs typeface="Arial MT"/>
              </a:rPr>
              <a:t>generation,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interactive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conversations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users.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spc="-50" b="1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263525" marR="1515745" indent="-251460">
              <a:lnSpc>
                <a:spcPct val="100000"/>
              </a:lnSpc>
              <a:spcBef>
                <a:spcPts val="75"/>
              </a:spcBef>
              <a:buChar char="•"/>
              <a:tabLst>
                <a:tab pos="263525" algn="l"/>
              </a:tabLst>
            </a:pPr>
            <a:r>
              <a:rPr dirty="0" sz="1800" b="1">
                <a:latin typeface="Arial"/>
                <a:cs typeface="Arial"/>
              </a:rPr>
              <a:t>RAG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–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Used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retrieve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relevant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information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from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knowledge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sources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such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market</a:t>
            </a:r>
            <a:r>
              <a:rPr dirty="0" sz="1800" spc="-10">
                <a:latin typeface="Arial MT"/>
                <a:cs typeface="Arial MT"/>
              </a:rPr>
              <a:t> reports, </a:t>
            </a:r>
            <a:r>
              <a:rPr dirty="0" sz="1800">
                <a:latin typeface="Arial MT"/>
                <a:cs typeface="Arial MT"/>
              </a:rPr>
              <a:t>business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resources,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databases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improve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response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accuracy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2105"/>
              </a:lnSpc>
              <a:spcBef>
                <a:spcPts val="110"/>
              </a:spcBef>
            </a:pPr>
            <a:r>
              <a:rPr dirty="0" sz="1800" spc="-50" b="1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263525" marR="5080" indent="-251460">
              <a:lnSpc>
                <a:spcPts val="2120"/>
              </a:lnSpc>
              <a:spcBef>
                <a:spcPts val="50"/>
              </a:spcBef>
              <a:buChar char="•"/>
              <a:tabLst>
                <a:tab pos="263525" algn="l"/>
              </a:tabLst>
            </a:pPr>
            <a:r>
              <a:rPr dirty="0" sz="1800" spc="-10" b="1">
                <a:latin typeface="Arial"/>
                <a:cs typeface="Arial"/>
              </a:rPr>
              <a:t>Multi-</a:t>
            </a:r>
            <a:r>
              <a:rPr dirty="0" sz="1800" b="1">
                <a:latin typeface="Arial"/>
                <a:cs typeface="Arial"/>
              </a:rPr>
              <a:t>Agent AI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Architecture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4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Implemented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multiple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specialized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agents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idea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analysis,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market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research, </a:t>
            </a:r>
            <a:r>
              <a:rPr dirty="0" sz="1800">
                <a:latin typeface="Arial MT"/>
                <a:cs typeface="Arial MT"/>
              </a:rPr>
              <a:t>technology</a:t>
            </a:r>
            <a:r>
              <a:rPr dirty="0" sz="1800" spc="-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recommendations,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business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strategy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generation.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1939"/>
              </a:lnSpc>
            </a:pPr>
            <a:r>
              <a:rPr dirty="0" sz="1800" spc="-50" b="1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  <a:p>
            <a:pPr marL="263525" marR="479425" indent="-251460">
              <a:lnSpc>
                <a:spcPts val="2090"/>
              </a:lnSpc>
              <a:spcBef>
                <a:spcPts val="75"/>
              </a:spcBef>
              <a:buChar char="•"/>
              <a:tabLst>
                <a:tab pos="263525" algn="l"/>
              </a:tabLst>
            </a:pPr>
            <a:r>
              <a:rPr dirty="0" sz="1800" b="1">
                <a:latin typeface="Arial"/>
                <a:cs typeface="Arial"/>
              </a:rPr>
              <a:t>Natural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Language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Processing(NLP)</a:t>
            </a:r>
            <a:r>
              <a:rPr dirty="0" sz="1800" spc="3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Enables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users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interact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agent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using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natural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language </a:t>
            </a:r>
            <a:r>
              <a:rPr dirty="0" sz="1800">
                <a:latin typeface="Arial MT"/>
                <a:cs typeface="Arial MT"/>
              </a:rPr>
              <a:t>queries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receive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meaningful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responses.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7100" y="421970"/>
            <a:ext cx="4198620" cy="39370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Langflow</a:t>
            </a:r>
            <a:r>
              <a:rPr dirty="0" spc="-50"/>
              <a:t> </a:t>
            </a:r>
            <a:r>
              <a:rPr dirty="0"/>
              <a:t>components</a:t>
            </a:r>
            <a:r>
              <a:rPr dirty="0" spc="-65"/>
              <a:t> </a:t>
            </a:r>
            <a:r>
              <a:rPr dirty="0" spc="-10"/>
              <a:t>Used-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100" y="1355293"/>
            <a:ext cx="11610975" cy="4697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0670" indent="-267970">
              <a:lnSpc>
                <a:spcPts val="2125"/>
              </a:lnSpc>
              <a:spcBef>
                <a:spcPts val="100"/>
              </a:spcBef>
              <a:buAutoNum type="arabicParenR"/>
              <a:tabLst>
                <a:tab pos="280670" algn="l"/>
              </a:tabLst>
            </a:pPr>
            <a:r>
              <a:rPr dirty="0" sz="1800" b="1">
                <a:latin typeface="Arial"/>
                <a:cs typeface="Arial"/>
              </a:rPr>
              <a:t>Chat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Input–</a:t>
            </a:r>
            <a:endParaRPr sz="1800">
              <a:latin typeface="Arial"/>
              <a:cs typeface="Arial"/>
            </a:endParaRPr>
          </a:p>
          <a:p>
            <a:pPr marL="12700" marR="88900">
              <a:lnSpc>
                <a:spcPts val="2090"/>
              </a:lnSpc>
              <a:spcBef>
                <a:spcPts val="95"/>
              </a:spcBef>
            </a:pPr>
            <a:r>
              <a:rPr dirty="0" sz="1800">
                <a:latin typeface="Arial MT"/>
                <a:cs typeface="Arial MT"/>
              </a:rPr>
              <a:t>Interface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where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users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enter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their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ideas,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requirements,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business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goals,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queries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through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natural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language input.</a:t>
            </a:r>
            <a:endParaRPr sz="1800">
              <a:latin typeface="Arial MT"/>
              <a:cs typeface="Arial MT"/>
            </a:endParaRPr>
          </a:p>
          <a:p>
            <a:pPr marL="280670" indent="-267970">
              <a:lnSpc>
                <a:spcPts val="2125"/>
              </a:lnSpc>
              <a:spcBef>
                <a:spcPts val="1200"/>
              </a:spcBef>
              <a:buAutoNum type="arabicParenR" startAt="2"/>
              <a:tabLst>
                <a:tab pos="280670" algn="l"/>
              </a:tabLst>
            </a:pPr>
            <a:r>
              <a:rPr dirty="0" sz="1800" b="1">
                <a:latin typeface="Arial"/>
                <a:cs typeface="Arial"/>
              </a:rPr>
              <a:t>IBM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watsonx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AI</a:t>
            </a:r>
            <a:r>
              <a:rPr dirty="0" sz="1800" spc="-10" b="1">
                <a:latin typeface="Arial"/>
                <a:cs typeface="Arial"/>
              </a:rPr>
              <a:t> Agent–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2090"/>
              </a:lnSpc>
              <a:spcBef>
                <a:spcPts val="95"/>
              </a:spcBef>
            </a:pPr>
            <a:r>
              <a:rPr dirty="0" sz="1800">
                <a:latin typeface="Arial MT"/>
                <a:cs typeface="Arial MT"/>
              </a:rPr>
              <a:t>Processes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user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inputs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using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IBM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Granite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generate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AI-</a:t>
            </a:r>
            <a:r>
              <a:rPr dirty="0" sz="1800">
                <a:latin typeface="Arial MT"/>
                <a:cs typeface="Arial MT"/>
              </a:rPr>
              <a:t>powered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insights,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business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strategies,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and </a:t>
            </a:r>
            <a:r>
              <a:rPr dirty="0" sz="1800">
                <a:latin typeface="Arial MT"/>
                <a:cs typeface="Arial MT"/>
              </a:rPr>
              <a:t>blueprint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recommendations.</a:t>
            </a:r>
            <a:endParaRPr sz="1800">
              <a:latin typeface="Arial MT"/>
              <a:cs typeface="Arial MT"/>
            </a:endParaRPr>
          </a:p>
          <a:p>
            <a:pPr marL="280670" indent="-267970">
              <a:lnSpc>
                <a:spcPts val="2125"/>
              </a:lnSpc>
              <a:spcBef>
                <a:spcPts val="1205"/>
              </a:spcBef>
              <a:buAutoNum type="arabicParenR" startAt="3"/>
              <a:tabLst>
                <a:tab pos="280670" algn="l"/>
              </a:tabLst>
            </a:pPr>
            <a:r>
              <a:rPr dirty="0" sz="1800" b="1">
                <a:latin typeface="Arial"/>
                <a:cs typeface="Arial"/>
              </a:rPr>
              <a:t>Name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of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IBM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Granite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Model–</a:t>
            </a:r>
            <a:endParaRPr sz="1800">
              <a:latin typeface="Arial"/>
              <a:cs typeface="Arial"/>
            </a:endParaRPr>
          </a:p>
          <a:p>
            <a:pPr marL="12700" marR="307340">
              <a:lnSpc>
                <a:spcPts val="2090"/>
              </a:lnSpc>
              <a:spcBef>
                <a:spcPts val="90"/>
              </a:spcBef>
            </a:pPr>
            <a:r>
              <a:rPr dirty="0" sz="1800" spc="-10" b="1">
                <a:latin typeface="Arial"/>
                <a:cs typeface="Arial"/>
              </a:rPr>
              <a:t>Granite-</a:t>
            </a:r>
            <a:r>
              <a:rPr dirty="0" sz="1800" b="1">
                <a:latin typeface="Arial"/>
                <a:cs typeface="Arial"/>
              </a:rPr>
              <a:t>4.0-</a:t>
            </a:r>
            <a:r>
              <a:rPr dirty="0" sz="1800" spc="-10" b="1">
                <a:latin typeface="Arial"/>
                <a:cs typeface="Arial"/>
              </a:rPr>
              <a:t>8B-</a:t>
            </a:r>
            <a:r>
              <a:rPr dirty="0" sz="1800" b="1">
                <a:latin typeface="Arial"/>
                <a:cs typeface="Arial"/>
              </a:rPr>
              <a:t>Instruct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→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Fast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efficient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language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used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real-time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idea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analysis,</a:t>
            </a:r>
            <a:r>
              <a:rPr dirty="0" sz="1800" spc="-10">
                <a:latin typeface="Arial MT"/>
                <a:cs typeface="Arial MT"/>
              </a:rPr>
              <a:t> business </a:t>
            </a:r>
            <a:r>
              <a:rPr dirty="0" sz="1800">
                <a:latin typeface="Arial MT"/>
                <a:cs typeface="Arial MT"/>
              </a:rPr>
              <a:t>planning,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intelligent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recommendations.</a:t>
            </a:r>
            <a:endParaRPr sz="1800">
              <a:latin typeface="Arial MT"/>
              <a:cs typeface="Arial MT"/>
            </a:endParaRPr>
          </a:p>
          <a:p>
            <a:pPr marL="280670" indent="-267970">
              <a:lnSpc>
                <a:spcPts val="2125"/>
              </a:lnSpc>
              <a:spcBef>
                <a:spcPts val="1240"/>
              </a:spcBef>
              <a:buAutoNum type="arabicParenR" startAt="4"/>
              <a:tabLst>
                <a:tab pos="280670" algn="l"/>
              </a:tabLst>
            </a:pPr>
            <a:r>
              <a:rPr dirty="0" sz="1800" b="1">
                <a:latin typeface="Arial"/>
                <a:cs typeface="Arial"/>
              </a:rPr>
              <a:t>Chat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Output–</a:t>
            </a:r>
            <a:endParaRPr sz="1800">
              <a:latin typeface="Arial"/>
              <a:cs typeface="Arial"/>
            </a:endParaRPr>
          </a:p>
          <a:p>
            <a:pPr marL="12700" marR="392430">
              <a:lnSpc>
                <a:spcPts val="2090"/>
              </a:lnSpc>
              <a:spcBef>
                <a:spcPts val="95"/>
              </a:spcBef>
            </a:pPr>
            <a:r>
              <a:rPr dirty="0" sz="1800">
                <a:latin typeface="Arial MT"/>
                <a:cs typeface="Arial MT"/>
              </a:rPr>
              <a:t>Displays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AI-</a:t>
            </a:r>
            <a:r>
              <a:rPr dirty="0" sz="1800">
                <a:latin typeface="Arial MT"/>
                <a:cs typeface="Arial MT"/>
              </a:rPr>
              <a:t>generated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responses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such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blueprints,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business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models,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technology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suggestions,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market </a:t>
            </a:r>
            <a:r>
              <a:rPr dirty="0" sz="1800">
                <a:latin typeface="Arial MT"/>
                <a:cs typeface="Arial MT"/>
              </a:rPr>
              <a:t>insights,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execution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roadmaps.</a:t>
            </a:r>
            <a:endParaRPr sz="1800">
              <a:latin typeface="Arial MT"/>
              <a:cs typeface="Arial MT"/>
            </a:endParaRPr>
          </a:p>
          <a:p>
            <a:pPr marL="280670" indent="-267970">
              <a:lnSpc>
                <a:spcPts val="2145"/>
              </a:lnSpc>
              <a:spcBef>
                <a:spcPts val="1205"/>
              </a:spcBef>
              <a:buAutoNum type="arabicParenR" startAt="5"/>
              <a:tabLst>
                <a:tab pos="280670" algn="l"/>
              </a:tabLst>
            </a:pPr>
            <a:r>
              <a:rPr dirty="0" sz="1800" b="1">
                <a:latin typeface="Arial"/>
                <a:cs typeface="Arial"/>
              </a:rPr>
              <a:t>File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Component–</a:t>
            </a:r>
            <a:endParaRPr sz="1800">
              <a:latin typeface="Arial"/>
              <a:cs typeface="Arial"/>
            </a:endParaRPr>
          </a:p>
          <a:p>
            <a:pPr marL="12700" marR="792480">
              <a:lnSpc>
                <a:spcPts val="2050"/>
              </a:lnSpc>
              <a:spcBef>
                <a:spcPts val="140"/>
              </a:spcBef>
            </a:pPr>
            <a:r>
              <a:rPr dirty="0" sz="1800">
                <a:latin typeface="Arial MT"/>
                <a:cs typeface="Arial MT"/>
              </a:rPr>
              <a:t>Stores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retrieves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startup-</a:t>
            </a:r>
            <a:r>
              <a:rPr dirty="0" sz="1800">
                <a:latin typeface="Arial MT"/>
                <a:cs typeface="Arial MT"/>
              </a:rPr>
              <a:t>related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documents,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market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research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business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templates,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0">
                <a:latin typeface="Arial MT"/>
                <a:cs typeface="Arial MT"/>
              </a:rPr>
              <a:t> knowledge </a:t>
            </a:r>
            <a:r>
              <a:rPr dirty="0" sz="1800">
                <a:latin typeface="Arial MT"/>
                <a:cs typeface="Arial MT"/>
              </a:rPr>
              <a:t>resources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generating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accurate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recommendations</a:t>
            </a:r>
            <a:r>
              <a:rPr dirty="0" sz="1150" spc="-10">
                <a:latin typeface="Times New Roman"/>
                <a:cs typeface="Times New Roman"/>
              </a:rPr>
              <a:t>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27100" y="421970"/>
            <a:ext cx="2876550" cy="39370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Langflow</a:t>
            </a:r>
            <a:r>
              <a:rPr dirty="0" spc="-70"/>
              <a:t> </a:t>
            </a:r>
            <a:r>
              <a:rPr dirty="0" spc="-10"/>
              <a:t>workflow-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0030" y="1143000"/>
            <a:ext cx="9399270" cy="54502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757" rIns="0" bIns="0" rtlCol="0" vert="horz">
            <a:spAutoFit/>
          </a:bodyPr>
          <a:lstStyle/>
          <a:p>
            <a:pPr marL="291465">
              <a:lnSpc>
                <a:spcPct val="100000"/>
              </a:lnSpc>
              <a:spcBef>
                <a:spcPts val="115"/>
              </a:spcBef>
            </a:pPr>
            <a:r>
              <a:rPr dirty="0" spc="-10">
                <a:latin typeface="Calibri"/>
                <a:cs typeface="Calibri"/>
              </a:rPr>
              <a:t>Architecture</a:t>
            </a:r>
            <a:r>
              <a:rPr dirty="0" spc="-100">
                <a:latin typeface="Calibri"/>
                <a:cs typeface="Calibri"/>
              </a:rPr>
              <a:t> </a:t>
            </a:r>
            <a:r>
              <a:rPr dirty="0" spc="-10">
                <a:latin typeface="Calibri"/>
                <a:cs typeface="Calibri"/>
              </a:rPr>
              <a:t>blueprint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0679" y="676909"/>
            <a:ext cx="9271635" cy="61810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8579" rIns="0" bIns="0" rtlCol="0" vert="horz">
            <a:spAutoFit/>
          </a:bodyPr>
          <a:lstStyle/>
          <a:p>
            <a:pPr marL="314325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Role</a:t>
            </a:r>
            <a:r>
              <a:rPr dirty="0" sz="3200" spc="-40"/>
              <a:t> </a:t>
            </a:r>
            <a:r>
              <a:rPr dirty="0" sz="3200"/>
              <a:t>of</a:t>
            </a:r>
            <a:r>
              <a:rPr dirty="0" sz="3200" spc="-5"/>
              <a:t> </a:t>
            </a:r>
            <a:r>
              <a:rPr dirty="0" sz="3200"/>
              <a:t>Agentic</a:t>
            </a:r>
            <a:r>
              <a:rPr dirty="0" sz="3200" spc="10"/>
              <a:t> </a:t>
            </a:r>
            <a:r>
              <a:rPr dirty="0" sz="3200"/>
              <a:t>AI</a:t>
            </a:r>
            <a:r>
              <a:rPr dirty="0" sz="3200" spc="-15"/>
              <a:t> </a:t>
            </a:r>
            <a:r>
              <a:rPr dirty="0" sz="3200"/>
              <a:t>in</a:t>
            </a:r>
            <a:r>
              <a:rPr dirty="0" sz="3200" spc="-35"/>
              <a:t> </a:t>
            </a:r>
            <a:r>
              <a:rPr dirty="0" sz="3200"/>
              <a:t>the</a:t>
            </a:r>
            <a:r>
              <a:rPr dirty="0" sz="3200" spc="-30"/>
              <a:t> </a:t>
            </a:r>
            <a:r>
              <a:rPr dirty="0" sz="3200" spc="-10"/>
              <a:t>solution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96264" y="1282064"/>
            <a:ext cx="7157084" cy="454025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 marR="27305">
              <a:lnSpc>
                <a:spcPct val="99400"/>
              </a:lnSpc>
              <a:spcBef>
                <a:spcPts val="115"/>
              </a:spcBef>
            </a:pPr>
            <a:r>
              <a:rPr dirty="0" sz="1400">
                <a:latin typeface="Arial MT"/>
                <a:cs typeface="Arial MT"/>
              </a:rPr>
              <a:t>Agentic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AI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enables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Blueprint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Generator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function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intelligent, </a:t>
            </a:r>
            <a:r>
              <a:rPr dirty="0" sz="1400">
                <a:latin typeface="Arial MT"/>
                <a:cs typeface="Arial MT"/>
              </a:rPr>
              <a:t>autonomous</a:t>
            </a:r>
            <a:r>
              <a:rPr dirty="0" sz="1400" spc="3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system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rather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than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simple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chatbot.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Using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IBM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watsonx,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GPT-OSS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120B,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Retrieval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Augmented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Generation(RAG),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it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coordinates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multiple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specialized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agents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to </a:t>
            </a:r>
            <a:r>
              <a:rPr dirty="0" sz="1400">
                <a:latin typeface="Arial MT"/>
                <a:cs typeface="Arial MT"/>
              </a:rPr>
              <a:t>generate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complete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blueprint.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ct val="99700"/>
              </a:lnSpc>
            </a:pPr>
            <a:r>
              <a:rPr dirty="0" sz="1400">
                <a:latin typeface="Arial MT"/>
                <a:cs typeface="Arial MT"/>
              </a:rPr>
              <a:t>Each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agent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performs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specific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task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–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such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analyzing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idea,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creating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50">
                <a:latin typeface="Arial MT"/>
                <a:cs typeface="Arial MT"/>
              </a:rPr>
              <a:t>a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Model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Canvas,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conducting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market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competitor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analysis,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recommending </a:t>
            </a:r>
            <a:r>
              <a:rPr dirty="0" sz="1400">
                <a:latin typeface="Arial MT"/>
                <a:cs typeface="Arial MT"/>
              </a:rPr>
              <a:t>funding</a:t>
            </a:r>
            <a:r>
              <a:rPr dirty="0" sz="1400" spc="-10">
                <a:latin typeface="Arial MT"/>
                <a:cs typeface="Arial MT"/>
              </a:rPr>
              <a:t> opportunities,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developing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go-</a:t>
            </a:r>
            <a:r>
              <a:rPr dirty="0" sz="1400" spc="-30">
                <a:latin typeface="Arial MT"/>
                <a:cs typeface="Arial MT"/>
              </a:rPr>
              <a:t>to-</a:t>
            </a:r>
            <a:r>
              <a:rPr dirty="0" sz="1400">
                <a:latin typeface="Arial MT"/>
                <a:cs typeface="Arial MT"/>
              </a:rPr>
              <a:t>market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strategies,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generating</a:t>
            </a:r>
            <a:r>
              <a:rPr dirty="0" sz="1400" spc="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implementation </a:t>
            </a:r>
            <a:r>
              <a:rPr dirty="0" sz="1400">
                <a:latin typeface="Arial MT"/>
                <a:cs typeface="Arial MT"/>
              </a:rPr>
              <a:t>roadmaps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—while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working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collaboratively.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This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multi-agent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approach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ensures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efficient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20">
                <a:latin typeface="Arial MT"/>
                <a:cs typeface="Arial MT"/>
              </a:rPr>
              <a:t>task </a:t>
            </a:r>
            <a:r>
              <a:rPr dirty="0" sz="1400">
                <a:latin typeface="Arial MT"/>
                <a:cs typeface="Arial MT"/>
              </a:rPr>
              <a:t>execution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comprehensive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planning.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400">
              <a:latin typeface="Arial MT"/>
              <a:cs typeface="Arial MT"/>
            </a:endParaRPr>
          </a:p>
          <a:p>
            <a:pPr marL="12700" marR="89535">
              <a:lnSpc>
                <a:spcPct val="99300"/>
              </a:lnSpc>
            </a:pPr>
            <a:r>
              <a:rPr dirty="0" sz="1400">
                <a:latin typeface="Arial MT"/>
                <a:cs typeface="Arial MT"/>
              </a:rPr>
              <a:t>Agentic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AI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also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provides</a:t>
            </a:r>
            <a:r>
              <a:rPr dirty="0" sz="1400" spc="-8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context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awareness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by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understanding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user's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idea, </a:t>
            </a:r>
            <a:r>
              <a:rPr dirty="0" sz="1400">
                <a:latin typeface="Arial MT"/>
                <a:cs typeface="Arial MT"/>
              </a:rPr>
              <a:t>industry,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target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audience,</a:t>
            </a:r>
            <a:r>
              <a:rPr dirty="0" sz="1400" spc="-7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stage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to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deliver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personalized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recommendations.</a:t>
            </a:r>
            <a:r>
              <a:rPr dirty="0" sz="1400" spc="45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It </a:t>
            </a:r>
            <a:r>
              <a:rPr dirty="0" sz="1400">
                <a:latin typeface="Arial MT"/>
                <a:cs typeface="Arial MT"/>
              </a:rPr>
              <a:t>continuously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adapts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its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responses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based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user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inputs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knowledge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retrieved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from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25">
                <a:latin typeface="Arial MT"/>
                <a:cs typeface="Arial MT"/>
              </a:rPr>
              <a:t>the </a:t>
            </a:r>
            <a:r>
              <a:rPr dirty="0" sz="1400">
                <a:latin typeface="Arial MT"/>
                <a:cs typeface="Arial MT"/>
              </a:rPr>
              <a:t>RAG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knowledge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base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web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search,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ensuring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accurate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up-</a:t>
            </a:r>
            <a:r>
              <a:rPr dirty="0" sz="1400" spc="-10">
                <a:latin typeface="Arial MT"/>
                <a:cs typeface="Arial MT"/>
              </a:rPr>
              <a:t>to-</a:t>
            </a:r>
            <a:r>
              <a:rPr dirty="0" sz="1400">
                <a:latin typeface="Arial MT"/>
                <a:cs typeface="Arial MT"/>
              </a:rPr>
              <a:t>date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insights.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400">
              <a:latin typeface="Arial MT"/>
              <a:cs typeface="Arial MT"/>
            </a:endParaRPr>
          </a:p>
          <a:p>
            <a:pPr marL="12700" marR="10795">
              <a:lnSpc>
                <a:spcPct val="99200"/>
              </a:lnSpc>
            </a:pPr>
            <a:r>
              <a:rPr dirty="0" sz="1400">
                <a:latin typeface="Arial MT"/>
                <a:cs typeface="Arial MT"/>
              </a:rPr>
              <a:t>Additionally,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agents</a:t>
            </a:r>
            <a:r>
              <a:rPr dirty="0" sz="1400" spc="-8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communicate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share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information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with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one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another,</a:t>
            </a:r>
            <a:r>
              <a:rPr dirty="0" sz="1400" spc="-6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enabling </a:t>
            </a:r>
            <a:r>
              <a:rPr dirty="0" sz="1400">
                <a:latin typeface="Arial MT"/>
                <a:cs typeface="Arial MT"/>
              </a:rPr>
              <a:t>better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decision-</a:t>
            </a:r>
            <a:r>
              <a:rPr dirty="0" sz="1400">
                <a:latin typeface="Arial MT"/>
                <a:cs typeface="Arial MT"/>
              </a:rPr>
              <a:t>making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producing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cohesive,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investor-ready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blueprint.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Overall, </a:t>
            </a:r>
            <a:r>
              <a:rPr dirty="0" sz="1400">
                <a:latin typeface="Arial MT"/>
                <a:cs typeface="Arial MT"/>
              </a:rPr>
              <a:t>Agentic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AI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makes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the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system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proactive,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intelligent,</a:t>
            </a:r>
            <a:r>
              <a:rPr dirty="0" sz="1400" spc="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and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goal-</a:t>
            </a:r>
            <a:r>
              <a:rPr dirty="0" sz="1400">
                <a:latin typeface="Arial MT"/>
                <a:cs typeface="Arial MT"/>
              </a:rPr>
              <a:t>driven,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acting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</a:t>
            </a:r>
            <a:r>
              <a:rPr dirty="0" sz="1400" spc="-10">
                <a:latin typeface="Arial MT"/>
                <a:cs typeface="Arial MT"/>
              </a:rPr>
              <a:t> virtual </a:t>
            </a:r>
            <a:r>
              <a:rPr dirty="0" sz="1400">
                <a:latin typeface="Arial MT"/>
                <a:cs typeface="Arial MT"/>
              </a:rPr>
              <a:t>startup</a:t>
            </a:r>
            <a:r>
              <a:rPr dirty="0" sz="1400" spc="-5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mentor</a:t>
            </a:r>
            <a:r>
              <a:rPr dirty="0" sz="1400" spc="-6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that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helps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entrepreneurs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transform</a:t>
            </a:r>
            <a:r>
              <a:rPr dirty="0" sz="1400" spc="-4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innovative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ideas</a:t>
            </a:r>
            <a:r>
              <a:rPr dirty="0" sz="1400" spc="-5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into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successful</a:t>
            </a:r>
            <a:r>
              <a:rPr dirty="0" sz="1400" spc="50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business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ventures.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1840" y="1167091"/>
            <a:ext cx="3014979" cy="45224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633" y="3340684"/>
            <a:ext cx="103505" cy="306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8633" y="4374591"/>
            <a:ext cx="103505" cy="306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78560" y="307289"/>
            <a:ext cx="1913889" cy="393700"/>
          </a:xfrm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Tokens</a:t>
            </a:r>
            <a:r>
              <a:rPr dirty="0" spc="-95"/>
              <a:t> </a:t>
            </a:r>
            <a:r>
              <a:rPr dirty="0" spc="-20"/>
              <a:t>Used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1148" y="865708"/>
            <a:ext cx="1857375" cy="3333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u="heavy" sz="20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After</a:t>
            </a:r>
            <a:r>
              <a:rPr dirty="0" u="heavy" sz="2000" spc="-3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00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the</a:t>
            </a:r>
            <a:r>
              <a:rPr dirty="0" u="heavy" sz="2000" spc="-45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dirty="0" u="heavy" sz="2000" spc="-1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Prompt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8633" y="5545937"/>
            <a:ext cx="103505" cy="3060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00" spc="-50">
                <a:solidFill>
                  <a:srgbClr val="2B3541"/>
                </a:solidFill>
                <a:latin typeface="Times New Roman"/>
                <a:cs typeface="Times New Roman"/>
              </a:rPr>
              <a:t>·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850" y="1365250"/>
            <a:ext cx="10427970" cy="40805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1018" rIns="0" bIns="0" rtlCol="0" vert="horz">
            <a:spAutoFit/>
          </a:bodyPr>
          <a:lstStyle/>
          <a:p>
            <a:pPr marL="615950">
              <a:lnSpc>
                <a:spcPct val="100000"/>
              </a:lnSpc>
              <a:spcBef>
                <a:spcPts val="115"/>
              </a:spcBef>
            </a:pPr>
            <a:r>
              <a:rPr dirty="0"/>
              <a:t>Novelty</a:t>
            </a:r>
            <a:r>
              <a:rPr dirty="0" spc="-105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 spc="-10"/>
              <a:t>Uniqueness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3404" y="1231468"/>
            <a:ext cx="11363325" cy="3617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210820" indent="-228600">
              <a:lnSpc>
                <a:spcPct val="100000"/>
              </a:lnSpc>
              <a:spcBef>
                <a:spcPts val="100"/>
              </a:spcBef>
              <a:buFont typeface="Symbol"/>
              <a:buChar char=""/>
              <a:tabLst>
                <a:tab pos="241300" algn="l"/>
              </a:tabLst>
            </a:pP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Startup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Blueprint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Generator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stands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out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combining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b="1">
                <a:latin typeface="Arial"/>
                <a:cs typeface="Arial"/>
              </a:rPr>
              <a:t>Agentic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AI</a:t>
            </a:r>
            <a:r>
              <a:rPr dirty="0" sz="1800">
                <a:latin typeface="Arial MT"/>
                <a:cs typeface="Arial MT"/>
              </a:rPr>
              <a:t>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10" b="1">
                <a:latin typeface="Arial"/>
                <a:cs typeface="Arial"/>
              </a:rPr>
              <a:t>Retrieval-</a:t>
            </a:r>
            <a:r>
              <a:rPr dirty="0" sz="1800" b="1">
                <a:latin typeface="Arial"/>
                <a:cs typeface="Arial"/>
              </a:rPr>
              <a:t>Augmented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Generation </a:t>
            </a:r>
            <a:r>
              <a:rPr dirty="0" sz="1800" b="1">
                <a:latin typeface="Arial"/>
                <a:cs typeface="Arial"/>
              </a:rPr>
              <a:t>(RAG)</a:t>
            </a:r>
            <a:r>
              <a:rPr dirty="0" sz="1800">
                <a:latin typeface="Arial MT"/>
                <a:cs typeface="Arial MT"/>
              </a:rPr>
              <a:t>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 </a:t>
            </a:r>
            <a:r>
              <a:rPr dirty="0" sz="1800" b="1">
                <a:latin typeface="Arial"/>
                <a:cs typeface="Arial"/>
              </a:rPr>
              <a:t>GPT-OSS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120B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deliver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end-</a:t>
            </a:r>
            <a:r>
              <a:rPr dirty="0" sz="1800">
                <a:latin typeface="Arial MT"/>
                <a:cs typeface="Arial MT"/>
              </a:rPr>
              <a:t>to-end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planning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solution.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Symbol"/>
              <a:buChar char=""/>
            </a:pPr>
            <a:endParaRPr sz="1800">
              <a:latin typeface="Arial MT"/>
              <a:cs typeface="Arial MT"/>
            </a:endParaRPr>
          </a:p>
          <a:p>
            <a:pPr marL="241300" marR="5080" indent="-228600">
              <a:lnSpc>
                <a:spcPct val="99500"/>
              </a:lnSpc>
              <a:buFont typeface="Symbol"/>
              <a:buChar char=""/>
              <a:tabLst>
                <a:tab pos="241300" algn="l"/>
              </a:tabLst>
            </a:pPr>
            <a:r>
              <a:rPr dirty="0" sz="1800">
                <a:latin typeface="Arial MT"/>
                <a:cs typeface="Arial MT"/>
              </a:rPr>
              <a:t>Unlike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traditional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chatbots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that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provide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generic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responses,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system</a:t>
            </a:r>
            <a:r>
              <a:rPr dirty="0" sz="1800" spc="-8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uses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multiple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specialized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AI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agents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that </a:t>
            </a:r>
            <a:r>
              <a:rPr dirty="0" sz="1800">
                <a:latin typeface="Arial MT"/>
                <a:cs typeface="Arial MT"/>
              </a:rPr>
              <a:t>collaborate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analyze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ideas,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generate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Business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Model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Canvas,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perform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market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competitor </a:t>
            </a:r>
            <a:r>
              <a:rPr dirty="0" sz="1800">
                <a:latin typeface="Arial MT"/>
                <a:cs typeface="Arial MT"/>
              </a:rPr>
              <a:t>analysis,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recommend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funding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opportunities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government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schemes,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develop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go-</a:t>
            </a:r>
            <a:r>
              <a:rPr dirty="0" sz="1800" spc="-10">
                <a:latin typeface="Arial MT"/>
                <a:cs typeface="Arial MT"/>
              </a:rPr>
              <a:t>to-</a:t>
            </a:r>
            <a:r>
              <a:rPr dirty="0" sz="1800">
                <a:latin typeface="Arial MT"/>
                <a:cs typeface="Arial MT"/>
              </a:rPr>
              <a:t>market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strategies,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and </a:t>
            </a:r>
            <a:r>
              <a:rPr dirty="0" sz="1800">
                <a:latin typeface="Arial MT"/>
                <a:cs typeface="Arial MT"/>
              </a:rPr>
              <a:t>create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implementation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roadmaps.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5"/>
              </a:spcBef>
              <a:buFont typeface="Symbol"/>
              <a:buChar char=""/>
            </a:pPr>
            <a:endParaRPr sz="1800">
              <a:latin typeface="Arial MT"/>
              <a:cs typeface="Arial MT"/>
            </a:endParaRPr>
          </a:p>
          <a:p>
            <a:pPr marL="241300" marR="250825" indent="-228600">
              <a:lnSpc>
                <a:spcPct val="100000"/>
              </a:lnSpc>
              <a:buFont typeface="Symbol"/>
              <a:buChar char=""/>
              <a:tabLst>
                <a:tab pos="241300" algn="l"/>
              </a:tabLst>
            </a:pPr>
            <a:r>
              <a:rPr dirty="0" sz="1800">
                <a:latin typeface="Arial MT"/>
                <a:cs typeface="Arial MT"/>
              </a:rPr>
              <a:t>By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integrating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curated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startup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knowledge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base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with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real-time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web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insights,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solution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provides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accurate, </a:t>
            </a:r>
            <a:r>
              <a:rPr dirty="0" sz="1800">
                <a:latin typeface="Arial MT"/>
                <a:cs typeface="Arial MT"/>
              </a:rPr>
              <a:t>personalized,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actionable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recommendations.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Symbol"/>
              <a:buChar char=""/>
            </a:pPr>
            <a:endParaRPr sz="1800">
              <a:latin typeface="Arial MT"/>
              <a:cs typeface="Arial MT"/>
            </a:endParaRPr>
          </a:p>
          <a:p>
            <a:pPr marL="241300" marR="942340" indent="-228600">
              <a:lnSpc>
                <a:spcPct val="100000"/>
              </a:lnSpc>
              <a:buFont typeface="Symbol"/>
              <a:buChar char=""/>
              <a:tabLst>
                <a:tab pos="241300" algn="l"/>
              </a:tabLst>
            </a:pPr>
            <a:r>
              <a:rPr dirty="0" sz="1800">
                <a:latin typeface="Arial MT"/>
                <a:cs typeface="Arial MT"/>
              </a:rPr>
              <a:t>Its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autonomous,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context-aware,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collaborative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approach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acts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virtual startup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mentor,</a:t>
            </a:r>
            <a:r>
              <a:rPr dirty="0" sz="1800" spc="-6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enabling </a:t>
            </a:r>
            <a:r>
              <a:rPr dirty="0" sz="1800">
                <a:latin typeface="Arial MT"/>
                <a:cs typeface="Arial MT"/>
              </a:rPr>
              <a:t>entrepreneurs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transform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innovative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ideas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into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investor-ready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business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plans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efficiently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18278" y="2599385"/>
            <a:ext cx="1516380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/>
              <a:t>GitHubLink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2603373" y="3272104"/>
            <a:ext cx="712978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solidFill>
                  <a:srgbClr val="2B3541"/>
                </a:solidFill>
                <a:latin typeface="Times New Roman"/>
                <a:cs typeface="Times New Roman"/>
                <a:hlinkClick r:id="rId2"/>
              </a:rPr>
              <a:t>https://github.com/deviramya1612/Startup-Blueprint-Generator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0433" rIns="0" bIns="0" rtlCol="0" vert="horz">
            <a:spAutoFit/>
          </a:bodyPr>
          <a:lstStyle/>
          <a:p>
            <a:pPr marL="972819">
              <a:lnSpc>
                <a:spcPct val="100000"/>
              </a:lnSpc>
              <a:spcBef>
                <a:spcPts val="115"/>
              </a:spcBef>
            </a:pPr>
            <a:r>
              <a:rPr dirty="0"/>
              <a:t>Future</a:t>
            </a:r>
            <a:r>
              <a:rPr dirty="0" spc="-40"/>
              <a:t> </a:t>
            </a:r>
            <a:r>
              <a:rPr dirty="0" spc="-10"/>
              <a:t>Scope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318770">
              <a:lnSpc>
                <a:spcPct val="100000"/>
              </a:lnSpc>
              <a:spcBef>
                <a:spcPts val="135"/>
              </a:spcBef>
            </a:pPr>
            <a:r>
              <a:rPr dirty="0" sz="1750">
                <a:solidFill>
                  <a:srgbClr val="2B3541"/>
                </a:solidFill>
              </a:rPr>
              <a:t>1.</a:t>
            </a:r>
            <a:r>
              <a:rPr dirty="0">
                <a:solidFill>
                  <a:srgbClr val="2B3541"/>
                </a:solidFill>
              </a:rPr>
              <a:t>Integration</a:t>
            </a:r>
            <a:r>
              <a:rPr dirty="0" spc="140">
                <a:solidFill>
                  <a:srgbClr val="2B3541"/>
                </a:solidFill>
              </a:rPr>
              <a:t> </a:t>
            </a:r>
            <a:r>
              <a:rPr dirty="0"/>
              <a:t>with</a:t>
            </a:r>
            <a:r>
              <a:rPr dirty="0" spc="130"/>
              <a:t> </a:t>
            </a:r>
            <a:r>
              <a:rPr dirty="0"/>
              <a:t>Business</a:t>
            </a:r>
            <a:r>
              <a:rPr dirty="0" spc="155"/>
              <a:t> </a:t>
            </a:r>
            <a:r>
              <a:rPr dirty="0"/>
              <a:t>&amp;</a:t>
            </a:r>
            <a:r>
              <a:rPr dirty="0" spc="165"/>
              <a:t> </a:t>
            </a:r>
            <a:r>
              <a:rPr dirty="0"/>
              <a:t>Startup</a:t>
            </a:r>
            <a:r>
              <a:rPr dirty="0" spc="130"/>
              <a:t> </a:t>
            </a:r>
            <a:r>
              <a:rPr dirty="0"/>
              <a:t>Ecosystems</a:t>
            </a:r>
            <a:r>
              <a:rPr dirty="0" spc="215"/>
              <a:t> </a:t>
            </a:r>
            <a:r>
              <a:rPr dirty="0" spc="-50">
                <a:solidFill>
                  <a:srgbClr val="2B3541"/>
                </a:solidFill>
              </a:rPr>
              <a:t>–</a:t>
            </a:r>
            <a:endParaRPr sz="1750"/>
          </a:p>
          <a:p>
            <a:pPr marL="12700" marR="5080">
              <a:lnSpc>
                <a:spcPct val="210200"/>
              </a:lnSpc>
              <a:spcBef>
                <a:spcPts val="220"/>
              </a:spcBef>
            </a:pPr>
            <a:r>
              <a:rPr dirty="0" sz="1550" b="0">
                <a:latin typeface="Arial MT"/>
                <a:cs typeface="Arial MT"/>
              </a:rPr>
              <a:t>The</a:t>
            </a:r>
            <a:r>
              <a:rPr dirty="0" sz="1550" spc="9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system</a:t>
            </a:r>
            <a:r>
              <a:rPr dirty="0" sz="1550" spc="17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can</a:t>
            </a:r>
            <a:r>
              <a:rPr dirty="0" sz="1550" spc="9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be</a:t>
            </a:r>
            <a:r>
              <a:rPr dirty="0" sz="1550" spc="13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integrated</a:t>
            </a:r>
            <a:r>
              <a:rPr dirty="0" sz="1550" spc="13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with</a:t>
            </a:r>
            <a:r>
              <a:rPr dirty="0" sz="1550" spc="9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startup</a:t>
            </a:r>
            <a:r>
              <a:rPr dirty="0" sz="1550" spc="13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incubators,</a:t>
            </a:r>
            <a:r>
              <a:rPr dirty="0" sz="1550" spc="15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accelerator</a:t>
            </a:r>
            <a:r>
              <a:rPr dirty="0" sz="1550" spc="13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programs,</a:t>
            </a:r>
            <a:r>
              <a:rPr dirty="0" sz="1550" spc="10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government</a:t>
            </a:r>
            <a:r>
              <a:rPr dirty="0" sz="1550" spc="15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startup</a:t>
            </a:r>
            <a:r>
              <a:rPr dirty="0" sz="1550" spc="14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portals</a:t>
            </a:r>
            <a:r>
              <a:rPr dirty="0" sz="1550" spc="16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(such</a:t>
            </a:r>
            <a:r>
              <a:rPr dirty="0" sz="1550" spc="14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as</a:t>
            </a:r>
            <a:r>
              <a:rPr dirty="0" sz="1550" spc="160" b="0">
                <a:latin typeface="Arial MT"/>
                <a:cs typeface="Arial MT"/>
              </a:rPr>
              <a:t> </a:t>
            </a:r>
            <a:r>
              <a:rPr dirty="0" sz="1550" spc="-10" b="0">
                <a:latin typeface="Arial MT"/>
                <a:cs typeface="Arial MT"/>
              </a:rPr>
              <a:t>Startup </a:t>
            </a:r>
            <a:r>
              <a:rPr dirty="0" sz="1550" b="0">
                <a:latin typeface="Arial MT"/>
                <a:cs typeface="Arial MT"/>
              </a:rPr>
              <a:t>India),</a:t>
            </a:r>
            <a:r>
              <a:rPr dirty="0" sz="1550" spc="9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CRM</a:t>
            </a:r>
            <a:r>
              <a:rPr dirty="0" sz="1550" spc="18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tools,</a:t>
            </a:r>
            <a:r>
              <a:rPr dirty="0" sz="1550" spc="13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and</a:t>
            </a:r>
            <a:r>
              <a:rPr dirty="0" sz="1550" spc="8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financial</a:t>
            </a:r>
            <a:r>
              <a:rPr dirty="0" sz="1550" spc="114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platforms.</a:t>
            </a:r>
            <a:r>
              <a:rPr dirty="0" sz="1550" spc="9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This</a:t>
            </a:r>
            <a:r>
              <a:rPr dirty="0" sz="1550" spc="15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will</a:t>
            </a:r>
            <a:r>
              <a:rPr dirty="0" sz="1550" spc="11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enable</a:t>
            </a:r>
            <a:r>
              <a:rPr dirty="0" sz="1550" spc="17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entrepreneurs</a:t>
            </a:r>
            <a:r>
              <a:rPr dirty="0" sz="1550" spc="15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to</a:t>
            </a:r>
            <a:r>
              <a:rPr dirty="0" sz="1550" spc="12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access</a:t>
            </a:r>
            <a:r>
              <a:rPr dirty="0" sz="1550" spc="10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funding</a:t>
            </a:r>
            <a:r>
              <a:rPr dirty="0" sz="1550" spc="17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opportunities,</a:t>
            </a:r>
            <a:r>
              <a:rPr dirty="0" sz="1550" spc="140" b="0">
                <a:latin typeface="Arial MT"/>
                <a:cs typeface="Arial MT"/>
              </a:rPr>
              <a:t> </a:t>
            </a:r>
            <a:r>
              <a:rPr dirty="0" sz="1550" spc="-10" b="0">
                <a:latin typeface="Arial MT"/>
                <a:cs typeface="Arial MT"/>
              </a:rPr>
              <a:t>business </a:t>
            </a:r>
            <a:r>
              <a:rPr dirty="0" sz="1550" b="0">
                <a:latin typeface="Arial MT"/>
                <a:cs typeface="Arial MT"/>
              </a:rPr>
              <a:t>registrations,</a:t>
            </a:r>
            <a:r>
              <a:rPr dirty="0" sz="1550" spc="16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mentorship</a:t>
            </a:r>
            <a:r>
              <a:rPr dirty="0" sz="1550" spc="14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programs,</a:t>
            </a:r>
            <a:r>
              <a:rPr dirty="0" sz="1550" spc="16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and</a:t>
            </a:r>
            <a:r>
              <a:rPr dirty="0" sz="1550" spc="14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financial</a:t>
            </a:r>
            <a:r>
              <a:rPr dirty="0" sz="1550" spc="13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planning</a:t>
            </a:r>
            <a:r>
              <a:rPr dirty="0" sz="1550" spc="15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services</a:t>
            </a:r>
            <a:r>
              <a:rPr dirty="0" sz="1550" spc="170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directly</a:t>
            </a:r>
            <a:r>
              <a:rPr dirty="0" sz="1550" spc="12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through</a:t>
            </a:r>
            <a:r>
              <a:rPr dirty="0" sz="1550" spc="145" b="0">
                <a:latin typeface="Arial MT"/>
                <a:cs typeface="Arial MT"/>
              </a:rPr>
              <a:t> </a:t>
            </a:r>
            <a:r>
              <a:rPr dirty="0" sz="1550" b="0">
                <a:latin typeface="Arial MT"/>
                <a:cs typeface="Arial MT"/>
              </a:rPr>
              <a:t>the</a:t>
            </a:r>
            <a:r>
              <a:rPr dirty="0" sz="1550" spc="105" b="0">
                <a:latin typeface="Arial MT"/>
                <a:cs typeface="Arial MT"/>
              </a:rPr>
              <a:t> </a:t>
            </a:r>
            <a:r>
              <a:rPr dirty="0" sz="1550" spc="-10" b="0">
                <a:latin typeface="Arial MT"/>
                <a:cs typeface="Arial MT"/>
              </a:rPr>
              <a:t>platform.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3670249"/>
            <a:ext cx="10701020" cy="172656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40335">
              <a:lnSpc>
                <a:spcPct val="100000"/>
              </a:lnSpc>
              <a:spcBef>
                <a:spcPts val="135"/>
              </a:spcBef>
            </a:pPr>
            <a:r>
              <a:rPr dirty="0" sz="1750" spc="-40" b="1">
                <a:solidFill>
                  <a:srgbClr val="2B3541"/>
                </a:solidFill>
                <a:latin typeface="Times New Roman"/>
                <a:cs typeface="Times New Roman"/>
              </a:rPr>
              <a:t>2.</a:t>
            </a:r>
            <a:r>
              <a:rPr dirty="0" sz="1750" spc="-235" b="1">
                <a:solidFill>
                  <a:srgbClr val="2B3541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2B3541"/>
                </a:solidFill>
                <a:latin typeface="Times New Roman"/>
                <a:cs typeface="Times New Roman"/>
              </a:rPr>
              <a:t>AI-Powered</a:t>
            </a:r>
            <a:r>
              <a:rPr dirty="0" sz="1800" spc="140" b="1">
                <a:solidFill>
                  <a:srgbClr val="2B3541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Virtual</a:t>
            </a:r>
            <a:r>
              <a:rPr dirty="0" sz="1800" spc="9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Startup</a:t>
            </a:r>
            <a:r>
              <a:rPr dirty="0" sz="1800" spc="1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Mentor</a:t>
            </a:r>
            <a:r>
              <a:rPr dirty="0" sz="1800" spc="114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&amp;</a:t>
            </a:r>
            <a:r>
              <a:rPr dirty="0" sz="1800" spc="1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Multilingual</a:t>
            </a:r>
            <a:r>
              <a:rPr dirty="0" sz="1800" spc="1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Support</a:t>
            </a:r>
            <a:r>
              <a:rPr dirty="0" sz="1800" spc="155" b="1">
                <a:latin typeface="Times New Roman"/>
                <a:cs typeface="Times New Roman"/>
              </a:rPr>
              <a:t>  </a:t>
            </a:r>
            <a:r>
              <a:rPr dirty="0" sz="1800" spc="-60" b="1">
                <a:solidFill>
                  <a:srgbClr val="2B3541"/>
                </a:solidFill>
                <a:latin typeface="Times New Roman"/>
                <a:cs typeface="Times New Roman"/>
              </a:rPr>
              <a:t>–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solution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can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be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enhanced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with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voice-enabled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AI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startup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mentor</a:t>
            </a:r>
            <a:r>
              <a:rPr dirty="0" sz="1550" spc="1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multilingual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support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to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improve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accessibility.</a:t>
            </a:r>
            <a:endParaRPr sz="1550">
              <a:latin typeface="Arial MT"/>
              <a:cs typeface="Arial MT"/>
            </a:endParaRPr>
          </a:p>
          <a:p>
            <a:pPr marL="67310" marR="5080">
              <a:lnSpc>
                <a:spcPct val="209200"/>
              </a:lnSpc>
              <a:spcBef>
                <a:spcPts val="35"/>
              </a:spcBef>
            </a:pPr>
            <a:r>
              <a:rPr dirty="0" sz="1550">
                <a:latin typeface="Arial MT"/>
                <a:cs typeface="Arial MT"/>
              </a:rPr>
              <a:t>Entrepreneurs</a:t>
            </a:r>
            <a:r>
              <a:rPr dirty="0" sz="1550" spc="1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can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interact</a:t>
            </a:r>
            <a:r>
              <a:rPr dirty="0" sz="1550" spc="1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naturally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their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preferred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language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receive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personalized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startup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guidance,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making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 spc="-25">
                <a:latin typeface="Arial MT"/>
                <a:cs typeface="Arial MT"/>
              </a:rPr>
              <a:t>the </a:t>
            </a:r>
            <a:r>
              <a:rPr dirty="0" sz="1550">
                <a:latin typeface="Arial MT"/>
                <a:cs typeface="Arial MT"/>
              </a:rPr>
              <a:t>platform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more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inclusive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suitable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for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users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from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diverse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backgrounds.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0745" rIns="0" bIns="0" rtlCol="0" vert="horz">
            <a:spAutoFit/>
          </a:bodyPr>
          <a:lstStyle/>
          <a:p>
            <a:pPr marL="163830">
              <a:lnSpc>
                <a:spcPct val="100000"/>
              </a:lnSpc>
              <a:spcBef>
                <a:spcPts val="115"/>
              </a:spcBef>
            </a:pPr>
            <a:r>
              <a:rPr dirty="0"/>
              <a:t>Certificates</a:t>
            </a:r>
            <a:r>
              <a:rPr dirty="0" spc="-70"/>
              <a:t> </a:t>
            </a:r>
            <a:r>
              <a:rPr dirty="0" spc="-10"/>
              <a:t>Earned: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5760" y="1326514"/>
            <a:ext cx="6855459" cy="49441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/>
              <a:t>Certificates</a:t>
            </a:r>
            <a:r>
              <a:rPr dirty="0" spc="-70"/>
              <a:t> </a:t>
            </a:r>
            <a:r>
              <a:rPr dirty="0" spc="-10"/>
              <a:t>Earned: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4254" y="1202054"/>
            <a:ext cx="7661909" cy="48933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600" spc="-125" b="0">
                <a:solidFill>
                  <a:srgbClr val="081C36"/>
                </a:solidFill>
                <a:latin typeface="Arial MT"/>
                <a:cs typeface="Arial MT"/>
              </a:rPr>
              <a:t>a</a:t>
            </a:r>
            <a:r>
              <a:rPr dirty="0" sz="9600" spc="-125" b="0">
                <a:solidFill>
                  <a:srgbClr val="081C36"/>
                </a:solidFill>
                <a:latin typeface="Arial MT"/>
                <a:cs typeface="Arial MT"/>
              </a:rPr>
              <a:t>n</a:t>
            </a:r>
            <a:endParaRPr sz="96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80157" y="4218315"/>
            <a:ext cx="361569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75">
                <a:solidFill>
                  <a:srgbClr val="2D2D2D"/>
                </a:solidFill>
                <a:latin typeface="Arial MT"/>
                <a:cs typeface="Arial MT"/>
              </a:rPr>
              <a:t>Thank</a:t>
            </a:r>
            <a:r>
              <a:rPr dirty="0" sz="1850" spc="-55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dirty="0" sz="1850" spc="-50">
                <a:solidFill>
                  <a:srgbClr val="262626"/>
                </a:solidFill>
                <a:latin typeface="Arial MT"/>
                <a:cs typeface="Arial MT"/>
              </a:rPr>
              <a:t>you</a:t>
            </a:r>
            <a:r>
              <a:rPr dirty="0" sz="1850" spc="-15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dirty="0" sz="1850" spc="-20">
                <a:solidFill>
                  <a:srgbClr val="242424"/>
                </a:solidFill>
                <a:latin typeface="Arial MT"/>
                <a:cs typeface="Arial MT"/>
              </a:rPr>
              <a:t>for</a:t>
            </a:r>
            <a:r>
              <a:rPr dirty="0" sz="1850" spc="-75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dirty="0" sz="1850" spc="-70">
                <a:solidFill>
                  <a:srgbClr val="232323"/>
                </a:solidFill>
                <a:latin typeface="Arial MT"/>
                <a:cs typeface="Arial MT"/>
              </a:rPr>
              <a:t>your</a:t>
            </a:r>
            <a:r>
              <a:rPr dirty="0" sz="1850" spc="-8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dirty="0" sz="1850" spc="-55">
                <a:solidFill>
                  <a:srgbClr val="282828"/>
                </a:solidFill>
                <a:latin typeface="Arial MT"/>
                <a:cs typeface="Arial MT"/>
              </a:rPr>
              <a:t>time</a:t>
            </a:r>
            <a:r>
              <a:rPr dirty="0" sz="1850" spc="-8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dirty="0" sz="1850" spc="-65">
                <a:solidFill>
                  <a:srgbClr val="242424"/>
                </a:solidFill>
                <a:latin typeface="Arial MT"/>
                <a:cs typeface="Arial MT"/>
              </a:rPr>
              <a:t>and </a:t>
            </a:r>
            <a:r>
              <a:rPr dirty="0" sz="1850" spc="-10">
                <a:solidFill>
                  <a:srgbClr val="262626"/>
                </a:solidFill>
                <a:latin typeface="Arial MT"/>
                <a:cs typeface="Arial MT"/>
              </a:rPr>
              <a:t>interest.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B354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2026-07-09T11:25:24Z</dcterms:created>
  <dcterms:modified xsi:type="dcterms:W3CDTF">2026-07-09T11:25:24Z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2026-07-09T00:00:00Z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2026-07-09T00:00:00Z</vt:filetime>
  </property>
  <property fmtid="{D5CDD505-2E9C-101B-9397-08002B2CF9AE}" pid="6" name="Producer">
    <vt:lpwstr>www.ilovepdf.com</vt:lpwstr>
  </property>
</Properties>
</file>